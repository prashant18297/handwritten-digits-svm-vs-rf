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ilda Display" charset="1" panose="02000000000000000000"/>
      <p:regular r:id="rId18"/>
    </p:embeddedFont>
    <p:embeddedFont>
      <p:font typeface="HK Grotesk Light" charset="1" panose="00000400000000000000"/>
      <p:regular r:id="rId19"/>
    </p:embeddedFont>
    <p:embeddedFont>
      <p:font typeface="HK Grotesk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1197043"/>
            <a:ext cx="6886575" cy="3712844"/>
            <a:chOff x="0" y="0"/>
            <a:chExt cx="9182100" cy="495045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473343"/>
              <a:ext cx="9182100" cy="2477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</a:pPr>
              <a:r>
                <a:rPr lang="en-US" sz="4799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Handwritten Digit Classification Using SVM and Random Forest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A0C4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Comparative Study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6300" y="477446"/>
            <a:ext cx="11315220" cy="1716553"/>
            <a:chOff x="0" y="0"/>
            <a:chExt cx="2980140" cy="452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0140" cy="452096"/>
            </a:xfrm>
            <a:custGeom>
              <a:avLst/>
              <a:gdLst/>
              <a:ahLst/>
              <a:cxnLst/>
              <a:rect r="r" b="b" t="t" l="l"/>
              <a:pathLst>
                <a:path h="452096" w="2980140">
                  <a:moveTo>
                    <a:pt x="15737" y="0"/>
                  </a:moveTo>
                  <a:lnTo>
                    <a:pt x="2964404" y="0"/>
                  </a:lnTo>
                  <a:cubicBezTo>
                    <a:pt x="2973095" y="0"/>
                    <a:pt x="2980140" y="7046"/>
                    <a:pt x="2980140" y="15737"/>
                  </a:cubicBezTo>
                  <a:lnTo>
                    <a:pt x="2980140" y="436360"/>
                  </a:lnTo>
                  <a:cubicBezTo>
                    <a:pt x="2980140" y="445051"/>
                    <a:pt x="2973095" y="452096"/>
                    <a:pt x="2964404" y="452096"/>
                  </a:cubicBezTo>
                  <a:lnTo>
                    <a:pt x="15737" y="452096"/>
                  </a:lnTo>
                  <a:cubicBezTo>
                    <a:pt x="7046" y="452096"/>
                    <a:pt x="0" y="445051"/>
                    <a:pt x="0" y="436360"/>
                  </a:cubicBezTo>
                  <a:lnTo>
                    <a:pt x="0" y="15737"/>
                  </a:lnTo>
                  <a:cubicBezTo>
                    <a:pt x="0" y="7046"/>
                    <a:pt x="7046" y="0"/>
                    <a:pt x="15737" y="0"/>
                  </a:cubicBezTo>
                  <a:close/>
                </a:path>
              </a:pathLst>
            </a:custGeom>
            <a:solidFill>
              <a:srgbClr val="AEC9D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80140" cy="490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17848" y="68518"/>
            <a:ext cx="6962475" cy="10149964"/>
            <a:chOff x="0" y="0"/>
            <a:chExt cx="9283300" cy="13533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83300" cy="2696942"/>
            </a:xfrm>
            <a:custGeom>
              <a:avLst/>
              <a:gdLst/>
              <a:ahLst/>
              <a:cxnLst/>
              <a:rect r="r" b="b" t="t" l="l"/>
              <a:pathLst>
                <a:path h="2696942" w="9283300">
                  <a:moveTo>
                    <a:pt x="0" y="0"/>
                  </a:moveTo>
                  <a:lnTo>
                    <a:pt x="9283300" y="0"/>
                  </a:lnTo>
                  <a:lnTo>
                    <a:pt x="9283300" y="2696942"/>
                  </a:lnTo>
                  <a:lnTo>
                    <a:pt x="0" y="269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685" r="0" b="-75285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696942"/>
              <a:ext cx="9283300" cy="10836344"/>
            </a:xfrm>
            <a:custGeom>
              <a:avLst/>
              <a:gdLst/>
              <a:ahLst/>
              <a:cxnLst/>
              <a:rect r="r" b="b" t="t" l="l"/>
              <a:pathLst>
                <a:path h="10836344" w="9283300">
                  <a:moveTo>
                    <a:pt x="0" y="0"/>
                  </a:moveTo>
                  <a:lnTo>
                    <a:pt x="9283300" y="0"/>
                  </a:lnTo>
                  <a:lnTo>
                    <a:pt x="9283300" y="10836343"/>
                  </a:lnTo>
                  <a:lnTo>
                    <a:pt x="0" y="10836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601" r="0" b="-6656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980702"/>
            <a:ext cx="8324850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Classify</a:t>
            </a: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ing Handwritten Digits: </a:t>
            </a:r>
          </a:p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Evaluating SVMs vs. Random Forests</a:t>
            </a:r>
          </a:p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• Task: label digit images</a:t>
            </a:r>
          </a:p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• Compare accuracy, speed, and robustness</a:t>
            </a:r>
          </a:p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• Discuss strengths, weaknesses, and when to use each</a:t>
            </a:r>
          </a:p>
          <a:p>
            <a:pPr algn="l" marL="0" indent="0" lvl="0">
              <a:lnSpc>
                <a:spcPts val="39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33151" y="838200"/>
            <a:ext cx="977217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1A3E72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6300" y="0"/>
            <a:ext cx="19164300" cy="3060568"/>
            <a:chOff x="0" y="0"/>
            <a:chExt cx="5047388" cy="806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7388" cy="806075"/>
            </a:xfrm>
            <a:custGeom>
              <a:avLst/>
              <a:gdLst/>
              <a:ahLst/>
              <a:cxnLst/>
              <a:rect r="r" b="b" t="t" l="l"/>
              <a:pathLst>
                <a:path h="806075" w="5047388">
                  <a:moveTo>
                    <a:pt x="0" y="0"/>
                  </a:moveTo>
                  <a:lnTo>
                    <a:pt x="5047388" y="0"/>
                  </a:lnTo>
                  <a:lnTo>
                    <a:pt x="5047388" y="806075"/>
                  </a:lnTo>
                  <a:lnTo>
                    <a:pt x="0" y="806075"/>
                  </a:lnTo>
                  <a:close/>
                </a:path>
              </a:pathLst>
            </a:custGeom>
            <a:solidFill>
              <a:srgbClr val="A0C4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47388" cy="844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3314699"/>
            <a:ext cx="8324850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Ess</a:t>
            </a: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ential for automating handwritten digit processing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Improves efficiency in banking systems (cheque reading, form processing)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Enhances postal services through automated mail sorting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Supports various automated systems requiring fast and accurate digit interpretation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Reduces manual workload and errors in real-world applications</a:t>
            </a:r>
          </a:p>
          <a:p>
            <a:pPr algn="l" marL="0" indent="0" lvl="0">
              <a:lnSpc>
                <a:spcPts val="39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38200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1A3E72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Problem Motivation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53550" y="2117652"/>
            <a:ext cx="8115300" cy="6051695"/>
          </a:xfrm>
          <a:custGeom>
            <a:avLst/>
            <a:gdLst/>
            <a:ahLst/>
            <a:cxnLst/>
            <a:rect r="r" b="b" t="t" l="l"/>
            <a:pathLst>
              <a:path h="6051695" w="8115300">
                <a:moveTo>
                  <a:pt x="0" y="0"/>
                </a:moveTo>
                <a:lnTo>
                  <a:pt x="8115300" y="0"/>
                </a:lnTo>
                <a:lnTo>
                  <a:pt x="8115300" y="6051696"/>
                </a:lnTo>
                <a:lnTo>
                  <a:pt x="0" y="605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4219" y="2873955"/>
            <a:ext cx="8324850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MNIST dataset consists of 70,000 images of handwritten digits, serving as a widely recognized benchmark for classification tasks.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 those 70,000 images 60,000 are used for training and 10,000 are used for testing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data set is balanced arcoss 10 classes(digits 0-9)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9150" y="1200150"/>
            <a:ext cx="832485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MNIST Dataset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77276" y="2272805"/>
            <a:ext cx="9260307" cy="5741390"/>
          </a:xfrm>
          <a:custGeom>
            <a:avLst/>
            <a:gdLst/>
            <a:ahLst/>
            <a:cxnLst/>
            <a:rect r="r" b="b" t="t" l="l"/>
            <a:pathLst>
              <a:path h="5741390" w="9260307">
                <a:moveTo>
                  <a:pt x="0" y="0"/>
                </a:moveTo>
                <a:lnTo>
                  <a:pt x="9260307" y="0"/>
                </a:lnTo>
                <a:lnTo>
                  <a:pt x="9260307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Exploratory Data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7420" y="3301817"/>
            <a:ext cx="8324850" cy="44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Dataset shows </a:t>
            </a:r>
            <a:r>
              <a:rPr lang="en-US" b="true" sz="3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balanced class</a:t>
            </a: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distribution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Distinct pixel intensity patterns observed across digits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Highlights natural handwriting variations among samples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Supports reliable model training and performance evaluation</a:t>
            </a:r>
          </a:p>
          <a:p>
            <a:pPr algn="l" marL="0" indent="0" lvl="0">
              <a:lnSpc>
                <a:spcPts val="39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1730" y="571572"/>
            <a:ext cx="8251919" cy="2640771"/>
            <a:chOff x="0" y="0"/>
            <a:chExt cx="2173345" cy="6955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3345" cy="695512"/>
            </a:xfrm>
            <a:custGeom>
              <a:avLst/>
              <a:gdLst/>
              <a:ahLst/>
              <a:cxnLst/>
              <a:rect r="r" b="b" t="t" l="l"/>
              <a:pathLst>
                <a:path h="695512" w="2173345">
                  <a:moveTo>
                    <a:pt x="46910" y="0"/>
                  </a:moveTo>
                  <a:lnTo>
                    <a:pt x="2126435" y="0"/>
                  </a:lnTo>
                  <a:cubicBezTo>
                    <a:pt x="2138876" y="0"/>
                    <a:pt x="2150808" y="4942"/>
                    <a:pt x="2159605" y="13740"/>
                  </a:cubicBezTo>
                  <a:cubicBezTo>
                    <a:pt x="2168403" y="22537"/>
                    <a:pt x="2173345" y="34469"/>
                    <a:pt x="2173345" y="46910"/>
                  </a:cubicBezTo>
                  <a:lnTo>
                    <a:pt x="2173345" y="648602"/>
                  </a:lnTo>
                  <a:cubicBezTo>
                    <a:pt x="2173345" y="661043"/>
                    <a:pt x="2168403" y="672975"/>
                    <a:pt x="2159605" y="681772"/>
                  </a:cubicBezTo>
                  <a:cubicBezTo>
                    <a:pt x="2150808" y="690569"/>
                    <a:pt x="2138876" y="695512"/>
                    <a:pt x="2126435" y="695512"/>
                  </a:cubicBezTo>
                  <a:lnTo>
                    <a:pt x="46910" y="695512"/>
                  </a:lnTo>
                  <a:cubicBezTo>
                    <a:pt x="34469" y="695512"/>
                    <a:pt x="22537" y="690569"/>
                    <a:pt x="13740" y="681772"/>
                  </a:cubicBezTo>
                  <a:cubicBezTo>
                    <a:pt x="4942" y="672975"/>
                    <a:pt x="0" y="661043"/>
                    <a:pt x="0" y="648602"/>
                  </a:cubicBezTo>
                  <a:lnTo>
                    <a:pt x="0" y="46910"/>
                  </a:lnTo>
                  <a:cubicBezTo>
                    <a:pt x="0" y="34469"/>
                    <a:pt x="4942" y="22537"/>
                    <a:pt x="13740" y="13740"/>
                  </a:cubicBezTo>
                  <a:cubicBezTo>
                    <a:pt x="22537" y="4942"/>
                    <a:pt x="34469" y="0"/>
                    <a:pt x="46910" y="0"/>
                  </a:cubicBezTo>
                  <a:close/>
                </a:path>
              </a:pathLst>
            </a:custGeom>
            <a:solidFill>
              <a:srgbClr val="A0C4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3345" cy="73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24850" y="3418621"/>
            <a:ext cx="8743570" cy="4275852"/>
            <a:chOff x="0" y="0"/>
            <a:chExt cx="11658093" cy="57011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58093" cy="5701136"/>
            </a:xfrm>
            <a:custGeom>
              <a:avLst/>
              <a:gdLst/>
              <a:ahLst/>
              <a:cxnLst/>
              <a:rect r="r" b="b" t="t" l="l"/>
              <a:pathLst>
                <a:path h="5701136" w="11658093">
                  <a:moveTo>
                    <a:pt x="0" y="0"/>
                  </a:moveTo>
                  <a:lnTo>
                    <a:pt x="11658093" y="0"/>
                  </a:lnTo>
                  <a:lnTo>
                    <a:pt x="11658093" y="5701136"/>
                  </a:lnTo>
                  <a:lnTo>
                    <a:pt x="0" y="5701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6239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829046" y="4953769"/>
              <a:ext cx="5590504" cy="747367"/>
            </a:xfrm>
            <a:custGeom>
              <a:avLst/>
              <a:gdLst/>
              <a:ahLst/>
              <a:cxnLst/>
              <a:rect r="r" b="b" t="t" l="l"/>
              <a:pathLst>
                <a:path h="747367" w="5590504">
                  <a:moveTo>
                    <a:pt x="0" y="0"/>
                  </a:moveTo>
                  <a:lnTo>
                    <a:pt x="5590504" y="0"/>
                  </a:lnTo>
                  <a:lnTo>
                    <a:pt x="5590504" y="747367"/>
                  </a:lnTo>
                  <a:lnTo>
                    <a:pt x="0" y="747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65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3380521"/>
            <a:ext cx="8324850" cy="495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Images are flattened from 28×28 pixels into 784 features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Converts 2D image matrices into 1D feature vectors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Ensures compatibility with traditional ML algorithms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Simplifies preprocessing for efficient model training</a:t>
            </a:r>
          </a:p>
          <a:p>
            <a:pPr algn="l" marL="0" indent="0" lvl="0">
              <a:lnSpc>
                <a:spcPts val="39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837222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1A3E72"/>
                </a:solidFill>
                <a:latin typeface="Gilda Display"/>
                <a:ea typeface="Gilda Display"/>
                <a:cs typeface="Gilda Display"/>
                <a:sym typeface="Gilda Display"/>
              </a:rPr>
              <a:t>Preprocessing Steps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5194" y="1437609"/>
            <a:ext cx="7867323" cy="7411782"/>
          </a:xfrm>
          <a:custGeom>
            <a:avLst/>
            <a:gdLst/>
            <a:ahLst/>
            <a:cxnLst/>
            <a:rect r="r" b="b" t="t" l="l"/>
            <a:pathLst>
              <a:path h="7411782" w="7867323">
                <a:moveTo>
                  <a:pt x="0" y="0"/>
                </a:moveTo>
                <a:lnTo>
                  <a:pt x="7867324" y="0"/>
                </a:lnTo>
                <a:lnTo>
                  <a:pt x="7867324" y="7411782"/>
                </a:lnTo>
                <a:lnTo>
                  <a:pt x="0" y="7411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Support Vector Machine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3821" y="2819400"/>
            <a:ext cx="8324850" cy="643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SVM uses the kernel trick to form nonlinear decision boundaries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Effectively handles complex and overlapping handwritten digit patterns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Works well with high-dimensional feature spaces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Provides robust generalization even with limited training data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Achieves high accuracy when paired with optimized kernels (e.g., RBF)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Less prone to overfitting compared to many other classifiers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10003" y="2295260"/>
            <a:ext cx="8661653" cy="6356958"/>
          </a:xfrm>
          <a:custGeom>
            <a:avLst/>
            <a:gdLst/>
            <a:ahLst/>
            <a:cxnLst/>
            <a:rect r="r" b="b" t="t" l="l"/>
            <a:pathLst>
              <a:path h="6356958" w="8661653">
                <a:moveTo>
                  <a:pt x="0" y="0"/>
                </a:moveTo>
                <a:lnTo>
                  <a:pt x="8661653" y="0"/>
                </a:lnTo>
                <a:lnTo>
                  <a:pt x="8661653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40" t="0" r="-2093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349885"/>
            <a:ext cx="15896424" cy="1638780"/>
            <a:chOff x="0" y="0"/>
            <a:chExt cx="4186712" cy="4316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86712" cy="431613"/>
            </a:xfrm>
            <a:custGeom>
              <a:avLst/>
              <a:gdLst/>
              <a:ahLst/>
              <a:cxnLst/>
              <a:rect r="r" b="b" t="t" l="l"/>
              <a:pathLst>
                <a:path h="431613" w="4186712">
                  <a:moveTo>
                    <a:pt x="0" y="0"/>
                  </a:moveTo>
                  <a:lnTo>
                    <a:pt x="4186712" y="0"/>
                  </a:lnTo>
                  <a:lnTo>
                    <a:pt x="4186712" y="431613"/>
                  </a:lnTo>
                  <a:lnTo>
                    <a:pt x="0" y="431613"/>
                  </a:lnTo>
                  <a:close/>
                </a:path>
              </a:pathLst>
            </a:custGeom>
            <a:solidFill>
              <a:srgbClr val="AEC9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86712" cy="46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0487" y="2257160"/>
            <a:ext cx="8324850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Random Forest model constructed using </a:t>
            </a:r>
            <a:r>
              <a:rPr lang="en-US" b="true" sz="3000">
                <a:solidFill>
                  <a:srgbClr val="1A3E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200 decision trees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Improves prediction accuracy through ensemble voting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Reduces overfitting compared to single decision trees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Handles noisy and high-dimensional data effectively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Provides feature importance insights for better interpretability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838200"/>
            <a:ext cx="14937988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1A3E72"/>
                </a:solidFill>
                <a:latin typeface="Gilda Display"/>
                <a:ea typeface="Gilda Display"/>
                <a:cs typeface="Gilda Display"/>
                <a:sym typeface="Gilda Display"/>
              </a:rPr>
              <a:t>Random Forest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9445" y="4007911"/>
            <a:ext cx="13249111" cy="4145599"/>
          </a:xfrm>
          <a:custGeom>
            <a:avLst/>
            <a:gdLst/>
            <a:ahLst/>
            <a:cxnLst/>
            <a:rect r="r" b="b" t="t" l="l"/>
            <a:pathLst>
              <a:path h="4145599" w="13249111">
                <a:moveTo>
                  <a:pt x="0" y="0"/>
                </a:moveTo>
                <a:lnTo>
                  <a:pt x="13249110" y="0"/>
                </a:lnTo>
                <a:lnTo>
                  <a:pt x="13249110" y="4145599"/>
                </a:lnTo>
                <a:lnTo>
                  <a:pt x="0" y="4145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60409" y="1130935"/>
            <a:ext cx="832485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results indicate that </a:t>
            </a:r>
            <a:r>
              <a:rPr lang="en-US" b="true" sz="3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RF significantly outperforms</a:t>
            </a: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</a:t>
            </a:r>
            <a:r>
              <a:rPr lang="en-US" b="true" sz="3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SVMs</a:t>
            </a: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, highlighting the effectiveness of classical machine learning techniques.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838200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Performance Comparison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5123" y="3368966"/>
            <a:ext cx="6728104" cy="5711202"/>
          </a:xfrm>
          <a:custGeom>
            <a:avLst/>
            <a:gdLst/>
            <a:ahLst/>
            <a:cxnLst/>
            <a:rect r="r" b="b" t="t" l="l"/>
            <a:pathLst>
              <a:path h="5711202" w="6728104">
                <a:moveTo>
                  <a:pt x="0" y="0"/>
                </a:moveTo>
                <a:lnTo>
                  <a:pt x="6728104" y="0"/>
                </a:lnTo>
                <a:lnTo>
                  <a:pt x="6728104" y="5711202"/>
                </a:lnTo>
                <a:lnTo>
                  <a:pt x="0" y="571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97817" y="3368966"/>
            <a:ext cx="6626690" cy="5725179"/>
          </a:xfrm>
          <a:custGeom>
            <a:avLst/>
            <a:gdLst/>
            <a:ahLst/>
            <a:cxnLst/>
            <a:rect r="r" b="b" t="t" l="l"/>
            <a:pathLst>
              <a:path h="5725179" w="6626690">
                <a:moveTo>
                  <a:pt x="0" y="0"/>
                </a:moveTo>
                <a:lnTo>
                  <a:pt x="6626690" y="0"/>
                </a:lnTo>
                <a:lnTo>
                  <a:pt x="6626690" y="5725179"/>
                </a:lnTo>
                <a:lnTo>
                  <a:pt x="0" y="5725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47484" y="1130935"/>
            <a:ext cx="832485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analysis reveals distinct error patterns, highlighting </a:t>
            </a:r>
            <a:r>
              <a:rPr lang="en-US" b="true" sz="30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SVM's clarity</a:t>
            </a:r>
            <a:r>
              <a:rPr lang="en-US" sz="30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in predictions compared to RF’s challenges with similar digits.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5123" y="838200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Confusion Matrix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87267" y="-1125450"/>
            <a:ext cx="24038838" cy="11590509"/>
            <a:chOff x="0" y="0"/>
            <a:chExt cx="6331217" cy="30526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1217" cy="3052644"/>
            </a:xfrm>
            <a:custGeom>
              <a:avLst/>
              <a:gdLst/>
              <a:ahLst/>
              <a:cxnLst/>
              <a:rect r="r" b="b" t="t" l="l"/>
              <a:pathLst>
                <a:path h="3052644" w="6331217">
                  <a:moveTo>
                    <a:pt x="0" y="0"/>
                  </a:moveTo>
                  <a:lnTo>
                    <a:pt x="6331217" y="0"/>
                  </a:lnTo>
                  <a:lnTo>
                    <a:pt x="6331217" y="3052644"/>
                  </a:lnTo>
                  <a:lnTo>
                    <a:pt x="0" y="3052644"/>
                  </a:lnTo>
                  <a:close/>
                </a:path>
              </a:pathLst>
            </a:custGeom>
            <a:solidFill>
              <a:srgbClr val="A0C4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31217" cy="309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34675" y="1199828"/>
            <a:ext cx="6886575" cy="8953500"/>
            <a:chOff x="0" y="0"/>
            <a:chExt cx="1200275" cy="1560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794399" y="5135303"/>
            <a:ext cx="767126" cy="767126"/>
          </a:xfrm>
          <a:custGeom>
            <a:avLst/>
            <a:gdLst/>
            <a:ahLst/>
            <a:cxnLst/>
            <a:rect r="r" b="b" t="t" l="l"/>
            <a:pathLst>
              <a:path h="767126" w="767126">
                <a:moveTo>
                  <a:pt x="0" y="0"/>
                </a:moveTo>
                <a:lnTo>
                  <a:pt x="767127" y="0"/>
                </a:lnTo>
                <a:lnTo>
                  <a:pt x="767127" y="767126"/>
                </a:lnTo>
                <a:lnTo>
                  <a:pt x="0" y="767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9150" y="1200150"/>
            <a:ext cx="832485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 u="sng">
                <a:solidFill>
                  <a:srgbClr val="1A3E72"/>
                </a:solidFill>
                <a:latin typeface="Gilda Display"/>
                <a:ea typeface="Gilda Display"/>
                <a:cs typeface="Gilda Display"/>
                <a:sym typeface="Gilda Display"/>
              </a:rPr>
              <a:t>Error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9150" y="2328544"/>
            <a:ext cx="9700850" cy="6342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44"/>
              </a:lnSpc>
            </a:pPr>
          </a:p>
          <a:p>
            <a:pPr algn="l" marL="754757" indent="-377379" lvl="1">
              <a:lnSpc>
                <a:spcPts val="4544"/>
              </a:lnSpc>
              <a:buFont typeface="Arial"/>
              <a:buChar char="•"/>
            </a:pPr>
            <a:r>
              <a:rPr lang="en-US" sz="3495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Misclassifications occur due to </a:t>
            </a:r>
            <a:r>
              <a:rPr lang="en-US" b="true" sz="3495">
                <a:solidFill>
                  <a:srgbClr val="1A3E7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handwriting variations,</a:t>
            </a:r>
            <a:r>
              <a:rPr lang="en-US" sz="3495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lead to inconsistent character shapes</a:t>
            </a:r>
          </a:p>
          <a:p>
            <a:pPr algn="l" marL="754757" indent="-377379" lvl="1">
              <a:lnSpc>
                <a:spcPts val="4544"/>
              </a:lnSpc>
              <a:buFont typeface="Arial"/>
              <a:buChar char="•"/>
            </a:pPr>
            <a:r>
              <a:rPr lang="en-US" sz="3495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Pixel noise introduces distortions in input images</a:t>
            </a:r>
          </a:p>
          <a:p>
            <a:pPr algn="l" marL="754757" indent="-377379" lvl="1">
              <a:lnSpc>
                <a:spcPts val="4544"/>
              </a:lnSpc>
              <a:buFont typeface="Arial"/>
              <a:buChar char="•"/>
            </a:pPr>
            <a:r>
              <a:rPr lang="en-US" sz="3495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Overlapping strokes make character boundaries unclear</a:t>
            </a:r>
          </a:p>
          <a:p>
            <a:pPr algn="l" marL="754757" indent="-377379" lvl="1">
              <a:lnSpc>
                <a:spcPts val="4544"/>
              </a:lnSpc>
              <a:buFont typeface="Arial"/>
              <a:buChar char="•"/>
            </a:pPr>
            <a:r>
              <a:rPr lang="en-US" sz="3495">
                <a:solidFill>
                  <a:srgbClr val="1A3E72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These factors collectively reduce model accuracy and performance</a:t>
            </a:r>
          </a:p>
          <a:p>
            <a:pPr algn="l" marL="0" indent="0" lvl="0">
              <a:lnSpc>
                <a:spcPts val="454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898326" y="321806"/>
            <a:ext cx="6360974" cy="54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4050">
                <a:solidFill>
                  <a:srgbClr val="1A3E72"/>
                </a:solidFill>
                <a:latin typeface="Gilda Display"/>
                <a:ea typeface="Gilda Display"/>
                <a:cs typeface="Gilda Display"/>
                <a:sym typeface="Gilda Display"/>
              </a:rPr>
              <a:t>Common misclassifications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E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7477124"/>
            <a:chOff x="0" y="0"/>
            <a:chExt cx="11099800" cy="99694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57399"/>
              <a:ext cx="11099800" cy="791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Both </a:t>
              </a:r>
              <a:r>
                <a:rPr lang="en-US" sz="30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SVM and Random Forest successfully classified the MNIST handwritten digit dataset.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Random Forest outperformed SVM in this experiment, delivering better accuracy and faster training time.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Model selection should depend on dataset size, required accuracy, interpretability, and computational constraints.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SVM is suitable for small dimensional datasets.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Random Forest is efficient, scalable, and robust for general-purpose classification.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Conclusion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Handwritten Digit Classification Using SVM and Random Forest</dc:description>
  <dc:identifier>DAG44MIz714</dc:identifier>
  <dcterms:modified xsi:type="dcterms:W3CDTF">2011-08-01T06:04:30Z</dcterms:modified>
  <cp:revision>1</cp:revision>
  <dc:title>Presentation - Handwritten Digit Classification Using SVM and Random Forest</dc:title>
</cp:coreProperties>
</file>